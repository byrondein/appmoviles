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9"/>
    <p:sldId id="261" r:id="rId10"/>
    <p:sldId id="258" r:id="rId11"/>
    <p:sldId id="279" r:id="rId21"/>
    <p:sldId id="271" r:id="rId14"/>
    <p:sldId id="282" r:id="rId24"/>
    <p:sldId id="278" r:id="rId12"/>
    <p:sldId id="285" r:id="rId27"/>
    <p:sldId id="280" r:id="rId22"/>
    <p:sldId id="274" r:id="rId13"/>
    <p:sldId id="284" r:id="rId26"/>
    <p:sldId id="283" r:id="rId25"/>
    <p:sldId id="281" r:id="rId23"/>
    <p:sldId id="272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B"/>
    <a:srgbClr val="D1752E"/>
    <a:srgbClr val="9950BE"/>
    <a:srgbClr val="E35A5A"/>
    <a:srgbClr val="FCB42E"/>
    <a:srgbClr val="00A499"/>
    <a:srgbClr val="43B02A"/>
    <a:srgbClr val="C4D600"/>
    <a:srgbClr val="5D6163"/>
    <a:srgbClr val="995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0C223-620B-48A4-AB13-3FFBA58CC05B}" v="24" dt="2024-03-27T14:54:51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  <Relationship Id="rId24" Type="http://schemas.openxmlformats.org/officeDocument/2006/relationships/slide" Target="slides/slide15.xml"/>
  <Relationship Id="rId25" Type="http://schemas.openxmlformats.org/officeDocument/2006/relationships/slide" Target="slides/slide16.xml"/>
  <Relationship Id="rId26" Type="http://schemas.openxmlformats.org/officeDocument/2006/relationships/slide" Target="slides/slide17.xml"/>
  <Relationship Id="rId27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Niño usando laptop en la mesa&#10;&#10;Descripción generada automáticamente">
            <a:extLst>
              <a:ext uri="{FF2B5EF4-FFF2-40B4-BE49-F238E27FC236}">
                <a16:creationId xmlns:a16="http://schemas.microsoft.com/office/drawing/2014/main" id="{84BCA2DD-66B7-974C-19AD-8DCDD9C17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890" y="1390649"/>
            <a:ext cx="2618439" cy="4108349"/>
          </a:xfrm>
          <a:prstGeom prst="rect">
            <a:avLst/>
          </a:prstGeom>
        </p:spPr>
      </p:pic>
      <p:pic>
        <p:nvPicPr>
          <p:cNvPr id="16" name="Imagen 15" descr="Un hombre en frente de laptop&#10;&#10;Descripción generada automáticamente con confianza media">
            <a:extLst>
              <a:ext uri="{FF2B5EF4-FFF2-40B4-BE49-F238E27FC236}">
                <a16:creationId xmlns:a16="http://schemas.microsoft.com/office/drawing/2014/main" id="{D9737ACC-A81F-BA15-9D17-10FD4D9A0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52" y="3029300"/>
            <a:ext cx="4054693" cy="2466974"/>
          </a:xfrm>
          <a:prstGeom prst="rect">
            <a:avLst/>
          </a:prstGeom>
        </p:spPr>
      </p:pic>
      <p:pic>
        <p:nvPicPr>
          <p:cNvPr id="18" name="Imagen 17" descr="Laptop encendida sobre una mesa&#10;&#10;Descripción generada automáticamente">
            <a:extLst>
              <a:ext uri="{FF2B5EF4-FFF2-40B4-BE49-F238E27FC236}">
                <a16:creationId xmlns:a16="http://schemas.microsoft.com/office/drawing/2014/main" id="{6D96390B-A749-248B-CED8-962E221712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452" y="346100"/>
            <a:ext cx="4054693" cy="24733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22ED30C6-A6F1-7907-63E6-64B729EAA2B6}"/>
              </a:ext>
            </a:extLst>
          </p:cNvPr>
          <p:cNvSpPr/>
          <p:nvPr userDrawn="1"/>
        </p:nvSpPr>
        <p:spPr>
          <a:xfrm>
            <a:off x="481398" y="5839174"/>
            <a:ext cx="23461" cy="692943"/>
          </a:xfrm>
          <a:prstGeom prst="rect">
            <a:avLst/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ADA7BC0-3EDA-3396-BF68-56BE7741CF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4399" y="339724"/>
            <a:ext cx="1908000" cy="75937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722CBC9-567A-5D8C-FEA1-6FECA07E27F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5" r="34329"/>
          <a:stretch/>
        </p:blipFill>
        <p:spPr bwMode="auto">
          <a:xfrm>
            <a:off x="515670" y="346100"/>
            <a:ext cx="4054693" cy="5150174"/>
          </a:xfrm>
          <a:prstGeom prst="roundRect">
            <a:avLst>
              <a:gd name="adj" fmla="val 841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4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­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5F54671-5F3B-7EDC-0E04-9D3E5301D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ADA7BC0-3EDA-3396-BF68-56BE7741CF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4399" y="339724"/>
            <a:ext cx="1908000" cy="75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9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Diapositi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Patrón de fondo&#10;&#10;Descripción generada automáticamente">
            <a:extLst>
              <a:ext uri="{FF2B5EF4-FFF2-40B4-BE49-F238E27FC236}">
                <a16:creationId xmlns:a16="http://schemas.microsoft.com/office/drawing/2014/main" id="{B9357DCB-3C4A-8E4F-262D-A4D54E1E14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48945BD-AFBE-D42C-EFED-72EF3F84404A}"/>
              </a:ext>
            </a:extLst>
          </p:cNvPr>
          <p:cNvSpPr/>
          <p:nvPr userDrawn="1"/>
        </p:nvSpPr>
        <p:spPr>
          <a:xfrm>
            <a:off x="1917577" y="285751"/>
            <a:ext cx="9779750" cy="393889"/>
          </a:xfrm>
          <a:prstGeom prst="roundRect">
            <a:avLst>
              <a:gd name="adj" fmla="val 50000"/>
            </a:avLst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DB2C26A0-8941-3038-584A-6033481836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73" y="234950"/>
            <a:ext cx="1239899" cy="4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1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Patrón de fondo&#10;&#10;Descripción generada automáticamente">
            <a:extLst>
              <a:ext uri="{FF2B5EF4-FFF2-40B4-BE49-F238E27FC236}">
                <a16:creationId xmlns:a16="http://schemas.microsoft.com/office/drawing/2014/main" id="{D1356AF5-DBBD-02EB-BB6F-8B9D4518BE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1D2D7D45-BE26-F4B2-1CBD-540249872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699" y="2600973"/>
            <a:ext cx="5938603" cy="233733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EBECEF2-D158-7DAF-A9C9-1F17C54BD8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885" y="5948715"/>
            <a:ext cx="5308231" cy="61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B7E6C-7A62-818F-54B9-681CFBB5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272BC-87DD-3278-9659-1EC5F8C45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A11845-A14B-E0AF-B2E0-10B9E3FA6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6FEAAA-5264-0158-0F5E-42AE387F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E44824-260C-9A5D-2D6B-D39494F3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D608E7-622A-3598-8CEB-F9AC80C8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984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181B1-3EC5-4773-1AEE-B518527C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DC2A21-1210-CC46-9390-930F2D031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B8F3C1-7348-9CF1-942E-30DD169E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1EF9920-D509-C250-C06A-9AFF21B99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37A133-DFFA-52C7-E79E-3C1520398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9AD507-16A3-F66F-0B73-026DDA2F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CCE0CB-AFF9-0610-D898-83569D8A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BE82F5-407D-C221-3052-E6B8204D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22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0C400-A73F-3B78-3867-0CD0559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D9E859-7654-F78C-24E9-0FACFA17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097238-6425-65A4-2BBB-EE5581C5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C10340-68BD-DC04-9403-B84A81E0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1121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B6D4A8C-FC90-E473-9268-D857C98F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234CF31-7BD1-0D71-A6C3-222F3D2E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55C8A0-FD75-A0E3-506C-A643DE5A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135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09C33-6B6E-4606-C670-0F229884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37AF81-EA0D-0EBE-E24A-A5BD7AC5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C33F1C-0C90-A1D8-D6EB-CF4CAD442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E218E7-C8E3-81A5-54CD-65356BBE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1850E6-518A-C925-6381-6BCC0AB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7B5711-8F71-2048-7843-70805EA0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29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72A6F-A358-089C-93EC-0D07C2F3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935ED33-D392-7D7C-C5F4-5EB8A2B38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138822-C139-5A72-6830-7693985C8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121306A-02CC-60DA-FC9E-F1EE7ED9D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664465-BD68-7048-FC26-9A30C1A6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2D43F1-82C1-9AC7-0AEB-9D46294C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121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635FB-4A12-7BCA-11A7-5E2074BD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E31D72-33B0-DC63-F26C-87884B26B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DB15AB-3036-46DE-FFD2-74F8EEA2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BF129E-9A41-C493-D08C-26FF3D84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833054-70EE-0003-74C7-D2E977FB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4220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F20230-0F95-A7DB-E254-5EFC6E58C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F31FB8-BFA4-F7DC-B7DF-DEBB3C8E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276120-9691-D8B7-7786-E530EF41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7AACCB-C2ED-4AF0-F97C-3F31449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EFB10D-B72E-99F0-9DC0-8D3F2E67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261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51DD4D-1C7D-983E-0350-8FB7E3549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A82450-9CFE-BE07-3C85-F81E146FD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467EF4-41EB-D847-E8C8-2F659586C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2FD57B-4393-4480-AD39-7CA7F948070D}" type="datetimeFigureOut">
              <a:rPr lang="es-CL" smtClean="0"/>
              <a:t>16-04-2024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CC0CD-A311-178D-91A2-DA58C39A6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A4B4D-AF25-F5E0-EACB-D73148D399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796A0-E1AA-4D5F-BD62-45E983C4EA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11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0719F4F-FBD1-CAB6-7A64-F939EEDF7E57}"/>
              </a:ext>
            </a:extLst>
          </p:cNvPr>
          <p:cNvSpPr/>
          <p:nvPr/>
        </p:nvSpPr>
        <p:spPr>
          <a:xfrm>
            <a:off x="547049" y="706922"/>
            <a:ext cx="4025246" cy="5444156"/>
          </a:xfrm>
          <a:prstGeom prst="roundRect">
            <a:avLst>
              <a:gd name="adj" fmla="val 6363"/>
            </a:avLst>
          </a:prstGeom>
          <a:blipFill>
            <a:blip r:embed="rId2"/>
            <a:stretch>
              <a:fillRect l="-53745" r="-537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678AFF1-47B1-E14A-5069-A7660D7DDE21}"/>
              </a:ext>
            </a:extLst>
          </p:cNvPr>
          <p:cNvGrpSpPr/>
          <p:nvPr/>
        </p:nvGrpSpPr>
        <p:grpSpPr>
          <a:xfrm>
            <a:off x="4989953" y="1995600"/>
            <a:ext cx="6197368" cy="2684024"/>
            <a:chOff x="4998918" y="1554527"/>
            <a:chExt cx="6197368" cy="2684024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2ED30C6-A6F1-7907-63E6-64B729EAA2B6}"/>
                </a:ext>
              </a:extLst>
            </p:cNvPr>
            <p:cNvSpPr/>
            <p:nvPr/>
          </p:nvSpPr>
          <p:spPr>
            <a:xfrm>
              <a:off x="4998918" y="1754551"/>
              <a:ext cx="23461" cy="2484000"/>
            </a:xfrm>
            <a:prstGeom prst="rect">
              <a:avLst/>
            </a:prstGeom>
            <a:solidFill>
              <a:srgbClr val="FCB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0AB7A4C-E6F7-69EB-E684-4CA6FAFA6B7D}"/>
                </a:ext>
              </a:extLst>
            </p:cNvPr>
            <p:cNvSpPr txBox="1"/>
            <p:nvPr/>
          </p:nvSpPr>
          <p:spPr>
            <a:xfrm>
              <a:off x="5100285" y="1554527"/>
              <a:ext cx="600698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ConectaSeñas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04747D-3DBB-0C07-F072-98DE6282EE7F}"/>
                </a:ext>
              </a:extLst>
            </p:cNvPr>
            <p:cNvSpPr txBox="1"/>
            <p:nvPr/>
          </p:nvSpPr>
          <p:spPr>
            <a:xfrm>
              <a:off x="5100286" y="2482334"/>
              <a:ext cx="60960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2000" dirty="0">
                  <a:latin typeface="Arial" panose="020B0604020202020204" pitchFamily="34" charset="0"/>
                  <a:cs typeface="Arial" panose="020B0604020202020204" pitchFamily="34" charset="0"/>
                </a:rPr>
                <a:t>Integrante:</a:t>
              </a:r>
            </a:p>
            <a:p>
              <a:r>
                <a:rPr lang="es-CL" dirty="0"/>
                <a:t>Byron González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6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2D6056-0990-B369-9C1E-66D3059FD20A}"/>
              </a:ext>
            </a:extLst>
          </p:cNvPr>
          <p:cNvSpPr txBox="1"/>
          <p:nvPr/>
        </p:nvSpPr>
        <p:spPr>
          <a:xfrm>
            <a:off x="2014539" y="293550"/>
            <a:ext cx="1928733" cy="368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18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Contexto del proyecto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CBECAD2-E382-1D2C-CBFA-0282D3B01DF5}"/>
              </a:ext>
            </a:extLst>
          </p:cNvPr>
          <p:cNvSpPr/>
          <p:nvPr/>
        </p:nvSpPr>
        <p:spPr>
          <a:xfrm>
            <a:off x="475011" y="1028699"/>
            <a:ext cx="6972300" cy="5535751"/>
          </a:xfrm>
          <a:prstGeom prst="roundRect">
            <a:avLst>
              <a:gd name="adj" fmla="val 6171"/>
            </a:avLst>
          </a:prstGeom>
          <a:blipFill>
            <a:blip r:embed="rId2"/>
            <a:stretch>
              <a:fillRect l="-14799" r="-147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AA9B5D-2EBB-54CE-52A2-F6F73FADD0FB}"/>
              </a:ext>
            </a:extLst>
          </p:cNvPr>
          <p:cNvSpPr/>
          <p:nvPr/>
        </p:nvSpPr>
        <p:spPr>
          <a:xfrm>
            <a:off x="7618762" y="1028699"/>
            <a:ext cx="4098227" cy="5508000"/>
          </a:xfrm>
          <a:prstGeom prst="roundRect">
            <a:avLst>
              <a:gd name="adj" fmla="val 6905"/>
            </a:avLst>
          </a:prstGeom>
          <a:noFill/>
          <a:ln w="38100">
            <a:solidFill>
              <a:srgbClr val="FCB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EB9878-C9B2-3D74-B9F3-FC89B863F3B2}"/>
              </a:ext>
            </a:extLst>
          </p:cNvPr>
          <p:cNvSpPr txBox="1"/>
          <p:nvPr/>
        </p:nvSpPr>
        <p:spPr>
          <a:xfrm>
            <a:off x="7839075" y="124461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ConectaSeñas es una app Android hecha con Kotlin y Jetpack Compose.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Está pensada para personas con discapacidad auditiva.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Les ayuda a comunicarse en su vida diaria: escribir y hablar.</a:t>
            </a:r>
          </a:p>
        </p:txBody>
      </p:sp>
    </p:spTree>
    <p:extLst>
      <p:ext uri="{BB962C8B-B14F-4D97-AF65-F5344CB8AC3E}">
        <p14:creationId xmlns:p14="http://schemas.microsoft.com/office/powerpoint/2010/main" val="250893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DC6718-D160-F56D-A8D7-216DC760CE11}"/>
              </a:ext>
            </a:extLst>
          </p:cNvPr>
          <p:cNvSpPr/>
          <p:nvPr/>
        </p:nvSpPr>
        <p:spPr>
          <a:xfrm>
            <a:off x="6214884" y="1014541"/>
            <a:ext cx="5483709" cy="5458335"/>
          </a:xfrm>
          <a:prstGeom prst="roundRect">
            <a:avLst>
              <a:gd name="adj" fmla="val 4923"/>
            </a:avLst>
          </a:prstGeom>
          <a:blipFill>
            <a:blip r:embed="rId2"/>
            <a:stretch>
              <a:fillRect l="-23198" r="-231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60F9C7-8EDD-5273-C07C-418C3F7C94D2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problemática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1D01B7-AE03-6335-E053-228D1C1DA3FB}"/>
              </a:ext>
            </a:extLst>
          </p:cNvPr>
          <p:cNvSpPr txBox="1"/>
          <p:nvPr/>
        </p:nvSpPr>
        <p:spPr>
          <a:xfrm>
            <a:off x="612445" y="2071816"/>
            <a:ext cx="53646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Conversar con personas oyentes en tiendas, oficinas o la calle es difícil.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Faltan apps simples y en español que reúnan escribir y hablar.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Los dispositivos de apoyo, como audífonos, se pierden con facilidad.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7C3463-8826-63CF-03B4-4D907D24A254}"/>
              </a:ext>
            </a:extLst>
          </p:cNvPr>
          <p:cNvSpPr txBox="1"/>
          <p:nvPr/>
        </p:nvSpPr>
        <p:spPr>
          <a:xfrm>
            <a:off x="876300" y="1462300"/>
            <a:ext cx="306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Qué queremos resolver</a:t>
            </a:r>
          </a:p>
        </p:txBody>
      </p:sp>
    </p:spTree>
    <p:extLst>
      <p:ext uri="{BB962C8B-B14F-4D97-AF65-F5344CB8AC3E}">
        <p14:creationId xmlns:p14="http://schemas.microsoft.com/office/powerpoint/2010/main" val="110706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írculo&#10;&#10;Descripción generada automáticamente">
            <a:extLst>
              <a:ext uri="{FF2B5EF4-FFF2-40B4-BE49-F238E27FC236}">
                <a16:creationId xmlns:a16="http://schemas.microsoft.com/office/drawing/2014/main" id="{E7A5FA2F-CE8C-BC12-8BEB-9192382D6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322" y="2519491"/>
            <a:ext cx="2520000" cy="25200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DC6718-D160-F56D-A8D7-216DC760CE11}"/>
              </a:ext>
            </a:extLst>
          </p:cNvPr>
          <p:cNvSpPr/>
          <p:nvPr/>
        </p:nvSpPr>
        <p:spPr>
          <a:xfrm>
            <a:off x="6214884" y="1014541"/>
            <a:ext cx="5483709" cy="5458335"/>
          </a:xfrm>
          <a:prstGeom prst="roundRect">
            <a:avLst>
              <a:gd name="adj" fmla="val 4923"/>
            </a:avLst>
          </a:prstGeom>
          <a:blipFill>
            <a:blip r:embed="rId3"/>
            <a:stretch>
              <a:fillRect l="-23198" r="-231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60F9C7-8EDD-5273-C07C-418C3F7C94D2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Funciones principales</a:t>
            </a:r>
          </a:p>
        </p:txBody>
      </p:sp>
      <p:pic>
        <p:nvPicPr>
          <p:cNvPr id="8" name="Imagen 7" descr="Forma, Círculo&#10;&#10;Descripción generada automáticamente">
            <a:extLst>
              <a:ext uri="{FF2B5EF4-FFF2-40B4-BE49-F238E27FC236}">
                <a16:creationId xmlns:a16="http://schemas.microsoft.com/office/drawing/2014/main" id="{582CCC6C-57CA-895E-C591-BAE02F59B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07" y="1023653"/>
            <a:ext cx="2526253" cy="2520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B9286E2-C101-608A-CC1D-184C18D77268}"/>
              </a:ext>
            </a:extLst>
          </p:cNvPr>
          <p:cNvSpPr txBox="1"/>
          <p:nvPr/>
        </p:nvSpPr>
        <p:spPr>
          <a:xfrm>
            <a:off x="926727" y="2118450"/>
            <a:ext cx="1678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Escribir</a:t>
            </a:r>
          </a:p>
        </p:txBody>
      </p:sp>
      <p:pic>
        <p:nvPicPr>
          <p:cNvPr id="12" name="Imagen 11" descr="Forma, Círculo&#10;&#10;Descripción generada automáticamente">
            <a:extLst>
              <a:ext uri="{FF2B5EF4-FFF2-40B4-BE49-F238E27FC236}">
                <a16:creationId xmlns:a16="http://schemas.microsoft.com/office/drawing/2014/main" id="{37B5773C-6F35-DEE2-7C29-8B96DC7CA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35" y="3981451"/>
            <a:ext cx="2520000" cy="252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E3496E-822E-CF24-6484-BD62DD4F5469}"/>
              </a:ext>
            </a:extLst>
          </p:cNvPr>
          <p:cNvSpPr txBox="1"/>
          <p:nvPr/>
        </p:nvSpPr>
        <p:spPr>
          <a:xfrm>
            <a:off x="948902" y="5041396"/>
            <a:ext cx="1678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Buscar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A18964-2A9D-019F-4685-8101F227AF1D}"/>
              </a:ext>
            </a:extLst>
          </p:cNvPr>
          <p:cNvSpPr txBox="1"/>
          <p:nvPr/>
        </p:nvSpPr>
        <p:spPr>
          <a:xfrm>
            <a:off x="3513989" y="3543653"/>
            <a:ext cx="1678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Hablar</a:t>
            </a:r>
          </a:p>
        </p:txBody>
      </p:sp>
    </p:spTree>
    <p:extLst>
      <p:ext uri="{BB962C8B-B14F-4D97-AF65-F5344CB8AC3E}">
        <p14:creationId xmlns:p14="http://schemas.microsoft.com/office/powerpoint/2010/main" val="87301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4DCA-2B26-97E6-9D4D-A2A967528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273CCE-22C3-A3DB-B32B-C5312267F576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Pruebas unitarias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145E29A-FA05-08B1-B70C-179B62CEA408}"/>
              </a:ext>
            </a:extLst>
          </p:cNvPr>
          <p:cNvGrpSpPr/>
          <p:nvPr/>
        </p:nvGrpSpPr>
        <p:grpSpPr>
          <a:xfrm>
            <a:off x="8288022" y="1790897"/>
            <a:ext cx="2652668" cy="3714553"/>
            <a:chOff x="8288022" y="1790897"/>
            <a:chExt cx="2652668" cy="3714553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3B748ED5-E5A1-1DF2-3B3C-676B07F2C0CF}"/>
                </a:ext>
              </a:extLst>
            </p:cNvPr>
            <p:cNvGrpSpPr/>
            <p:nvPr/>
          </p:nvGrpSpPr>
          <p:grpSpPr>
            <a:xfrm>
              <a:off x="8288022" y="1790897"/>
              <a:ext cx="2652668" cy="3714553"/>
              <a:chOff x="3729279" y="1790897"/>
              <a:chExt cx="2652668" cy="3714553"/>
            </a:xfrm>
          </p:grpSpPr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BAFE8499-56F6-F34D-5BA8-9291484B4CB6}"/>
                  </a:ext>
                </a:extLst>
              </p:cNvPr>
              <p:cNvSpPr/>
              <p:nvPr/>
            </p:nvSpPr>
            <p:spPr>
              <a:xfrm>
                <a:off x="3874417" y="1932495"/>
                <a:ext cx="2375554" cy="3431357"/>
              </a:xfrm>
              <a:prstGeom prst="roundRect">
                <a:avLst>
                  <a:gd name="adj" fmla="val 11111"/>
                </a:avLst>
              </a:prstGeom>
              <a:blipFill>
                <a:blip r:embed="rId2"/>
                <a:stretch>
                  <a:fillRect l="-81085" r="-4471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21" name="Rectángulo: esquinas redondeadas 20">
                <a:extLst>
                  <a:ext uri="{FF2B5EF4-FFF2-40B4-BE49-F238E27FC236}">
                    <a16:creationId xmlns:a16="http://schemas.microsoft.com/office/drawing/2014/main" id="{E8293DD9-C24C-AAB7-3FD7-4618C62CE8C3}"/>
                  </a:ext>
                </a:extLst>
              </p:cNvPr>
              <p:cNvSpPr/>
              <p:nvPr/>
            </p:nvSpPr>
            <p:spPr>
              <a:xfrm>
                <a:off x="3729279" y="1790897"/>
                <a:ext cx="2652668" cy="3714553"/>
              </a:xfrm>
              <a:prstGeom prst="roundRect">
                <a:avLst>
                  <a:gd name="adj" fmla="val 11111"/>
                </a:avLst>
              </a:prstGeom>
              <a:noFill/>
              <a:ln>
                <a:solidFill>
                  <a:srgbClr val="5D616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D31E3720-7057-6561-EC26-455CB7815324}"/>
                </a:ext>
              </a:extLst>
            </p:cNvPr>
            <p:cNvSpPr/>
            <p:nvPr/>
          </p:nvSpPr>
          <p:spPr>
            <a:xfrm>
              <a:off x="8538031" y="4938179"/>
              <a:ext cx="2171700" cy="324803"/>
            </a:xfrm>
            <a:prstGeom prst="roundRect">
              <a:avLst>
                <a:gd name="adj" fmla="val 50000"/>
              </a:avLst>
            </a:prstGeom>
            <a:solidFill>
              <a:srgbClr val="FCB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Robolectric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9B9815B7-2643-D782-2C04-2D9F98735899}"/>
              </a:ext>
            </a:extLst>
          </p:cNvPr>
          <p:cNvGrpSpPr/>
          <p:nvPr/>
        </p:nvGrpSpPr>
        <p:grpSpPr>
          <a:xfrm>
            <a:off x="1251310" y="1790897"/>
            <a:ext cx="2760421" cy="3714553"/>
            <a:chOff x="1251310" y="1790897"/>
            <a:chExt cx="2760421" cy="3714553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995ACA38-600B-0194-0236-E9C3CD9705C8}"/>
                </a:ext>
              </a:extLst>
            </p:cNvPr>
            <p:cNvGrpSpPr/>
            <p:nvPr/>
          </p:nvGrpSpPr>
          <p:grpSpPr>
            <a:xfrm>
              <a:off x="1251310" y="1790897"/>
              <a:ext cx="2760421" cy="3714553"/>
              <a:chOff x="3729279" y="1790897"/>
              <a:chExt cx="2760421" cy="3714553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C66FA308-DF9C-9226-5880-E7FCBF00D04D}"/>
                  </a:ext>
                </a:extLst>
              </p:cNvPr>
              <p:cNvSpPr/>
              <p:nvPr/>
            </p:nvSpPr>
            <p:spPr>
              <a:xfrm>
                <a:off x="3874417" y="1932495"/>
                <a:ext cx="2375554" cy="3431357"/>
              </a:xfrm>
              <a:prstGeom prst="roundRect">
                <a:avLst>
                  <a:gd name="adj" fmla="val 11111"/>
                </a:avLst>
              </a:prstGeom>
              <a:blipFill>
                <a:blip r:embed="rId3"/>
                <a:stretch>
                  <a:fillRect l="-54565" r="-54565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14" name="Rectángulo: esquinas redondeadas 13">
                <a:extLst>
                  <a:ext uri="{FF2B5EF4-FFF2-40B4-BE49-F238E27FC236}">
                    <a16:creationId xmlns:a16="http://schemas.microsoft.com/office/drawing/2014/main" id="{2841576F-6456-AB6A-FD5B-1F2A44AD7FEE}"/>
                  </a:ext>
                </a:extLst>
              </p:cNvPr>
              <p:cNvSpPr/>
              <p:nvPr/>
            </p:nvSpPr>
            <p:spPr>
              <a:xfrm>
                <a:off x="3729279" y="1790897"/>
                <a:ext cx="2652668" cy="3714553"/>
              </a:xfrm>
              <a:prstGeom prst="roundRect">
                <a:avLst>
                  <a:gd name="adj" fmla="val 11111"/>
                </a:avLst>
              </a:prstGeom>
              <a:noFill/>
              <a:ln>
                <a:solidFill>
                  <a:srgbClr val="5D616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6" name="Triángulo isósceles 15">
                <a:extLst>
                  <a:ext uri="{FF2B5EF4-FFF2-40B4-BE49-F238E27FC236}">
                    <a16:creationId xmlns:a16="http://schemas.microsoft.com/office/drawing/2014/main" id="{1CFC071E-9480-1796-378F-E445FD404F3B}"/>
                  </a:ext>
                </a:extLst>
              </p:cNvPr>
              <p:cNvSpPr/>
              <p:nvPr/>
            </p:nvSpPr>
            <p:spPr>
              <a:xfrm rot="5400000">
                <a:off x="6312000" y="3594297"/>
                <a:ext cx="247647" cy="107753"/>
              </a:xfrm>
              <a:prstGeom prst="triangle">
                <a:avLst/>
              </a:prstGeom>
              <a:solidFill>
                <a:srgbClr val="5D61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965EE964-573D-1A7E-7690-8BD94B7F9C0F}"/>
                </a:ext>
              </a:extLst>
            </p:cNvPr>
            <p:cNvSpPr/>
            <p:nvPr/>
          </p:nvSpPr>
          <p:spPr>
            <a:xfrm>
              <a:off x="1458794" y="4938181"/>
              <a:ext cx="2171700" cy="324803"/>
            </a:xfrm>
            <a:prstGeom prst="roundRect">
              <a:avLst>
                <a:gd name="adj" fmla="val 50000"/>
              </a:avLst>
            </a:prstGeom>
            <a:solidFill>
              <a:srgbClr val="FCB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JUnit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7723D446-03F3-E991-399C-8D9B143226EF}"/>
              </a:ext>
            </a:extLst>
          </p:cNvPr>
          <p:cNvGrpSpPr/>
          <p:nvPr/>
        </p:nvGrpSpPr>
        <p:grpSpPr>
          <a:xfrm>
            <a:off x="4697097" y="1790897"/>
            <a:ext cx="2760421" cy="3714553"/>
            <a:chOff x="4697097" y="1790897"/>
            <a:chExt cx="2760421" cy="3714553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325F1251-18FB-2062-FF93-440A69F61040}"/>
                </a:ext>
              </a:extLst>
            </p:cNvPr>
            <p:cNvGrpSpPr/>
            <p:nvPr/>
          </p:nvGrpSpPr>
          <p:grpSpPr>
            <a:xfrm>
              <a:off x="4697097" y="1790897"/>
              <a:ext cx="2760421" cy="3714553"/>
              <a:chOff x="3729279" y="1790897"/>
              <a:chExt cx="2760421" cy="3714553"/>
            </a:xfrm>
          </p:grpSpPr>
          <p:sp>
            <p:nvSpPr>
              <p:cNvPr id="25" name="Rectángulo: esquinas redondeadas 24">
                <a:extLst>
                  <a:ext uri="{FF2B5EF4-FFF2-40B4-BE49-F238E27FC236}">
                    <a16:creationId xmlns:a16="http://schemas.microsoft.com/office/drawing/2014/main" id="{2091F0F6-C5DC-C5A0-51F8-4FB160791A32}"/>
                  </a:ext>
                </a:extLst>
              </p:cNvPr>
              <p:cNvSpPr/>
              <p:nvPr/>
            </p:nvSpPr>
            <p:spPr>
              <a:xfrm>
                <a:off x="3874417" y="1932495"/>
                <a:ext cx="2375554" cy="3431357"/>
              </a:xfrm>
              <a:prstGeom prst="roundRect">
                <a:avLst>
                  <a:gd name="adj" fmla="val 11111"/>
                </a:avLst>
              </a:prstGeom>
              <a:blipFill>
                <a:blip r:embed="rId4"/>
                <a:stretch>
                  <a:fillRect l="-43199" r="-58353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6" name="Rectángulo: esquinas redondeadas 25">
                <a:extLst>
                  <a:ext uri="{FF2B5EF4-FFF2-40B4-BE49-F238E27FC236}">
                    <a16:creationId xmlns:a16="http://schemas.microsoft.com/office/drawing/2014/main" id="{A88D3274-FB98-9283-8429-9045DEDAAE96}"/>
                  </a:ext>
                </a:extLst>
              </p:cNvPr>
              <p:cNvSpPr/>
              <p:nvPr/>
            </p:nvSpPr>
            <p:spPr>
              <a:xfrm>
                <a:off x="3729279" y="1790897"/>
                <a:ext cx="2652668" cy="3714553"/>
              </a:xfrm>
              <a:prstGeom prst="roundRect">
                <a:avLst>
                  <a:gd name="adj" fmla="val 11111"/>
                </a:avLst>
              </a:prstGeom>
              <a:noFill/>
              <a:ln>
                <a:solidFill>
                  <a:srgbClr val="5D616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7" name="Triángulo isósceles 26">
                <a:extLst>
                  <a:ext uri="{FF2B5EF4-FFF2-40B4-BE49-F238E27FC236}">
                    <a16:creationId xmlns:a16="http://schemas.microsoft.com/office/drawing/2014/main" id="{72D9FE4E-B2AC-7B98-D2C3-2896C2A8E628}"/>
                  </a:ext>
                </a:extLst>
              </p:cNvPr>
              <p:cNvSpPr/>
              <p:nvPr/>
            </p:nvSpPr>
            <p:spPr>
              <a:xfrm rot="5400000">
                <a:off x="6312000" y="3594297"/>
                <a:ext cx="247647" cy="107753"/>
              </a:xfrm>
              <a:prstGeom prst="triangle">
                <a:avLst/>
              </a:prstGeom>
              <a:solidFill>
                <a:srgbClr val="5D61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1B52DC98-5BDA-6179-3B75-D86E710A8B2A}"/>
                </a:ext>
              </a:extLst>
            </p:cNvPr>
            <p:cNvSpPr/>
            <p:nvPr/>
          </p:nvSpPr>
          <p:spPr>
            <a:xfrm>
              <a:off x="4953498" y="4938180"/>
              <a:ext cx="2171700" cy="324803"/>
            </a:xfrm>
            <a:prstGeom prst="roundRect">
              <a:avLst>
                <a:gd name="adj" fmla="val 50000"/>
              </a:avLst>
            </a:prstGeom>
            <a:solidFill>
              <a:srgbClr val="FCB4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Mockito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29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3805881-028A-34A3-B5D1-5E786C313BE8}"/>
              </a:ext>
            </a:extLst>
          </p:cNvPr>
          <p:cNvSpPr/>
          <p:nvPr/>
        </p:nvSpPr>
        <p:spPr>
          <a:xfrm>
            <a:off x="527900" y="1023461"/>
            <a:ext cx="4025246" cy="2601986"/>
          </a:xfrm>
          <a:prstGeom prst="roundRect">
            <a:avLst>
              <a:gd name="adj" fmla="val 10594"/>
            </a:avLst>
          </a:prstGeom>
          <a:blipFill>
            <a:blip r:embed="rId2"/>
            <a:stretch>
              <a:fillRect l="-6791" r="-679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5138B5D-402B-59E1-AC27-991B9932DDE2}"/>
              </a:ext>
            </a:extLst>
          </p:cNvPr>
          <p:cNvSpPr/>
          <p:nvPr/>
        </p:nvSpPr>
        <p:spPr>
          <a:xfrm>
            <a:off x="527900" y="3925919"/>
            <a:ext cx="4025246" cy="2601986"/>
          </a:xfrm>
          <a:prstGeom prst="roundRect">
            <a:avLst>
              <a:gd name="adj" fmla="val 10594"/>
            </a:avLst>
          </a:prstGeom>
          <a:blipFill>
            <a:blip r:embed="rId3"/>
            <a:stretch>
              <a:fillRect l="-5450" r="-545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BCFE56C-88C1-19B4-B15C-248E9C6D0CA7}"/>
              </a:ext>
            </a:extLst>
          </p:cNvPr>
          <p:cNvSpPr/>
          <p:nvPr/>
        </p:nvSpPr>
        <p:spPr>
          <a:xfrm>
            <a:off x="4749454" y="1023461"/>
            <a:ext cx="3981449" cy="324803"/>
          </a:xfrm>
          <a:prstGeom prst="roundRect">
            <a:avLst>
              <a:gd name="adj" fmla="val 50000"/>
            </a:avLst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Pasos del usuario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E678F0F-A35B-4293-35D3-D7A609CB4AE6}"/>
              </a:ext>
            </a:extLst>
          </p:cNvPr>
          <p:cNvGrpSpPr/>
          <p:nvPr/>
        </p:nvGrpSpPr>
        <p:grpSpPr>
          <a:xfrm>
            <a:off x="4749454" y="1551213"/>
            <a:ext cx="6945485" cy="711055"/>
            <a:chOff x="4749454" y="1551213"/>
            <a:chExt cx="6945485" cy="7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3ACA933-8890-9E04-83B4-8DC1CB8DF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C42AA69-F4FD-7325-0496-94B644BE83E8}"/>
                </a:ext>
              </a:extLst>
            </p:cNvPr>
            <p:cNvSpPr txBox="1"/>
            <p:nvPr/>
          </p:nvSpPr>
          <p:spPr>
            <a:xfrm>
              <a:off x="5500634" y="1722074"/>
              <a:ext cx="4094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Ingresa con su correo y contraseña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AECB5AC-D1D4-A68D-04D0-E7FC1B0D7CC2}"/>
              </a:ext>
            </a:extLst>
          </p:cNvPr>
          <p:cNvGrpSpPr/>
          <p:nvPr/>
        </p:nvGrpSpPr>
        <p:grpSpPr>
          <a:xfrm>
            <a:off x="4749454" y="2404340"/>
            <a:ext cx="6945485" cy="711055"/>
            <a:chOff x="4749454" y="1551213"/>
            <a:chExt cx="6945485" cy="711055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E3F378A-FDF7-958C-6DB8-C67AAE36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55F8928-55EA-3485-60EC-0A0AF6ACC44A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Saludo con su nombre y menú principal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FEF4117-2555-8D59-395D-4B36C8CFE402}"/>
              </a:ext>
            </a:extLst>
          </p:cNvPr>
          <p:cNvGrpSpPr/>
          <p:nvPr/>
        </p:nvGrpSpPr>
        <p:grpSpPr>
          <a:xfrm>
            <a:off x="4749454" y="3257467"/>
            <a:ext cx="6945485" cy="711055"/>
            <a:chOff x="4749454" y="1551213"/>
            <a:chExt cx="6945485" cy="711055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1F5BA378-838E-BE87-EC56-F15826AC5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005619D-A0AB-48DE-FDA8-A9193A5ED19B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Elige Escribir o Hablar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49AB559-EB80-F65A-B6CC-84A14128983E}"/>
              </a:ext>
            </a:extLst>
          </p:cNvPr>
          <p:cNvGrpSpPr/>
          <p:nvPr/>
        </p:nvGrpSpPr>
        <p:grpSpPr>
          <a:xfrm>
            <a:off x="4749454" y="4110594"/>
            <a:ext cx="6945485" cy="711055"/>
            <a:chOff x="4749454" y="1551213"/>
            <a:chExt cx="6945485" cy="711055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95499B2-9EAC-EB6C-1965-98ACBF926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1E92153-1EBD-33E7-0A5E-9057B24C4087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La app responde y lo guía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DFF8951-3099-C551-A2B8-11805B2127EF}"/>
              </a:ext>
            </a:extLst>
          </p:cNvPr>
          <p:cNvGrpSpPr/>
          <p:nvPr/>
        </p:nvGrpSpPr>
        <p:grpSpPr>
          <a:xfrm>
            <a:off x="4749454" y="4963721"/>
            <a:ext cx="6945485" cy="711055"/>
            <a:chOff x="4749454" y="1551213"/>
            <a:chExt cx="6945485" cy="711055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B498BA24-8C32-9FCD-B440-75F6B32F4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C7B42E80-36C0-402F-F4D5-38089C294633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Se guardan solicitudes y respuestas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2429F90-369C-495C-7E10-B526A3582735}"/>
              </a:ext>
            </a:extLst>
          </p:cNvPr>
          <p:cNvGrpSpPr/>
          <p:nvPr/>
        </p:nvGrpSpPr>
        <p:grpSpPr>
          <a:xfrm>
            <a:off x="4749454" y="5816850"/>
            <a:ext cx="6945485" cy="711055"/>
            <a:chOff x="4749454" y="1551213"/>
            <a:chExt cx="6945485" cy="711055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6DF875C5-FAB1-9343-5FCD-4736E63F4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0885DA4-2225-230B-F5E2-8D3175D68F52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Vuelve al menú principal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1E8B0C4-BC6D-26DE-1273-5247D8FFCF6B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Flujo de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23792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10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2D6056-0990-B369-9C1E-66D3059FD20A}"/>
              </a:ext>
            </a:extLst>
          </p:cNvPr>
          <p:cNvSpPr txBox="1"/>
          <p:nvPr/>
        </p:nvSpPr>
        <p:spPr>
          <a:xfrm>
            <a:off x="2014539" y="293550"/>
            <a:ext cx="1928733" cy="368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18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La solución: ConectaSeñas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CBECAD2-E382-1D2C-CBFA-0282D3B01DF5}"/>
              </a:ext>
            </a:extLst>
          </p:cNvPr>
          <p:cNvSpPr/>
          <p:nvPr/>
        </p:nvSpPr>
        <p:spPr>
          <a:xfrm>
            <a:off x="475011" y="1028699"/>
            <a:ext cx="6972300" cy="5535751"/>
          </a:xfrm>
          <a:prstGeom prst="roundRect">
            <a:avLst>
              <a:gd name="adj" fmla="val 6171"/>
            </a:avLst>
          </a:prstGeom>
          <a:blipFill>
            <a:blip r:embed="rId2"/>
            <a:stretch>
              <a:fillRect l="-14799" r="-147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AA9B5D-2EBB-54CE-52A2-F6F73FADD0FB}"/>
              </a:ext>
            </a:extLst>
          </p:cNvPr>
          <p:cNvSpPr/>
          <p:nvPr/>
        </p:nvSpPr>
        <p:spPr>
          <a:xfrm>
            <a:off x="7618762" y="1028699"/>
            <a:ext cx="4098227" cy="5508000"/>
          </a:xfrm>
          <a:prstGeom prst="roundRect">
            <a:avLst>
              <a:gd name="adj" fmla="val 6905"/>
            </a:avLst>
          </a:prstGeom>
          <a:noFill/>
          <a:ln w="38100">
            <a:solidFill>
              <a:srgbClr val="FCB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EB9878-C9B2-3D74-B9F3-FC89B863F3B2}"/>
              </a:ext>
            </a:extLst>
          </p:cNvPr>
          <p:cNvSpPr txBox="1"/>
          <p:nvPr/>
        </p:nvSpPr>
        <p:spPr>
          <a:xfrm>
            <a:off x="7839075" y="124461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Escribir: el celular dice en voz alta lo que la persona escribe.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Hablar: el celular escucha y muestra lo que dice otra persona en texto grande.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Buscar dispositivo: guarda su ubicación para encontrarlo después.</a:t>
            </a:r>
          </a:p>
        </p:txBody>
      </p:sp>
    </p:spTree>
    <p:extLst>
      <p:ext uri="{BB962C8B-B14F-4D97-AF65-F5344CB8AC3E}">
        <p14:creationId xmlns:p14="http://schemas.microsoft.com/office/powerpoint/2010/main" val="250893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2D6056-0990-B369-9C1E-66D3059FD20A}"/>
              </a:ext>
            </a:extLst>
          </p:cNvPr>
          <p:cNvSpPr txBox="1"/>
          <p:nvPr/>
        </p:nvSpPr>
        <p:spPr>
          <a:xfrm>
            <a:off x="2014539" y="293550"/>
            <a:ext cx="1928733" cy="368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18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Persistencia con Firebase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CBECAD2-E382-1D2C-CBFA-0282D3B01DF5}"/>
              </a:ext>
            </a:extLst>
          </p:cNvPr>
          <p:cNvSpPr/>
          <p:nvPr/>
        </p:nvSpPr>
        <p:spPr>
          <a:xfrm>
            <a:off x="475011" y="1028699"/>
            <a:ext cx="6972300" cy="5535751"/>
          </a:xfrm>
          <a:prstGeom prst="roundRect">
            <a:avLst>
              <a:gd name="adj" fmla="val 6171"/>
            </a:avLst>
          </a:prstGeom>
          <a:blipFill>
            <a:blip r:embed="rId2"/>
            <a:stretch>
              <a:fillRect l="-14799" r="-147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AA9B5D-2EBB-54CE-52A2-F6F73FADD0FB}"/>
              </a:ext>
            </a:extLst>
          </p:cNvPr>
          <p:cNvSpPr/>
          <p:nvPr/>
        </p:nvSpPr>
        <p:spPr>
          <a:xfrm>
            <a:off x="7618762" y="1028699"/>
            <a:ext cx="4098227" cy="5508000"/>
          </a:xfrm>
          <a:prstGeom prst="roundRect">
            <a:avLst>
              <a:gd name="adj" fmla="val 6905"/>
            </a:avLst>
          </a:prstGeom>
          <a:noFill/>
          <a:ln w="38100">
            <a:solidFill>
              <a:srgbClr val="FCB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EB9878-C9B2-3D74-B9F3-FC89B863F3B2}"/>
              </a:ext>
            </a:extLst>
          </p:cNvPr>
          <p:cNvSpPr txBox="1"/>
          <p:nvPr/>
        </p:nvSpPr>
        <p:spPr>
          <a:xfrm>
            <a:off x="7839075" y="124461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Authentication: registro, login y recuperar contraseña.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Cloud Firestore: usuarios, mensajes y dispositivos.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CRUD completo: crear, leer, editar y eliminar.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Reglas de seguridad: cada usuario ve solo sus datos.</a:t>
            </a:r>
          </a:p>
        </p:txBody>
      </p:sp>
    </p:spTree>
    <p:extLst>
      <p:ext uri="{BB962C8B-B14F-4D97-AF65-F5344CB8AC3E}">
        <p14:creationId xmlns:p14="http://schemas.microsoft.com/office/powerpoint/2010/main" val="250893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2D6056-0990-B369-9C1E-66D3059FD20A}"/>
              </a:ext>
            </a:extLst>
          </p:cNvPr>
          <p:cNvSpPr txBox="1"/>
          <p:nvPr/>
        </p:nvSpPr>
        <p:spPr>
          <a:xfrm>
            <a:off x="2014539" y="293550"/>
            <a:ext cx="1928733" cy="368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1800" dirty="0">
                <a:solidFill>
                  <a:srgbClr val="282F39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Reflexión del proceso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CBECAD2-E382-1D2C-CBFA-0282D3B01DF5}"/>
              </a:ext>
            </a:extLst>
          </p:cNvPr>
          <p:cNvSpPr/>
          <p:nvPr/>
        </p:nvSpPr>
        <p:spPr>
          <a:xfrm>
            <a:off x="475011" y="1028699"/>
            <a:ext cx="6972300" cy="5535751"/>
          </a:xfrm>
          <a:prstGeom prst="roundRect">
            <a:avLst>
              <a:gd name="adj" fmla="val 6171"/>
            </a:avLst>
          </a:prstGeom>
          <a:blipFill>
            <a:blip r:embed="rId2"/>
            <a:stretch>
              <a:fillRect l="-14799" r="-1479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5AA9B5D-2EBB-54CE-52A2-F6F73FADD0FB}"/>
              </a:ext>
            </a:extLst>
          </p:cNvPr>
          <p:cNvSpPr/>
          <p:nvPr/>
        </p:nvSpPr>
        <p:spPr>
          <a:xfrm>
            <a:off x="7618762" y="1028699"/>
            <a:ext cx="4098227" cy="5508000"/>
          </a:xfrm>
          <a:prstGeom prst="roundRect">
            <a:avLst>
              <a:gd name="adj" fmla="val 6905"/>
            </a:avLst>
          </a:prstGeom>
          <a:noFill/>
          <a:ln w="38100">
            <a:solidFill>
              <a:srgbClr val="FCB4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EB9878-C9B2-3D74-B9F3-FC89B863F3B2}"/>
              </a:ext>
            </a:extLst>
          </p:cNvPr>
          <p:cNvSpPr txBox="1"/>
          <p:nvPr/>
        </p:nvSpPr>
        <p:spPr>
          <a:xfrm>
            <a:off x="7839075" y="1244614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Aprendimos a conectar una app Android con Firebase.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La accesibilidad cambia cómo se diseña cada pantalla.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Las pruebas dan confianza antes de publicar.</a:t>
            </a:r>
          </a:p>
          <a:p>
            <a:pPr>
              <a:spcAft>
                <a:spcPts val="1200"/>
              </a:spcAft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Próximo paso: más idiomas y mejoras de accesibilidad.</a:t>
            </a:r>
          </a:p>
        </p:txBody>
      </p:sp>
    </p:spTree>
    <p:extLst>
      <p:ext uri="{BB962C8B-B14F-4D97-AF65-F5344CB8AC3E}">
        <p14:creationId xmlns:p14="http://schemas.microsoft.com/office/powerpoint/2010/main" val="250893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DC6718-D160-F56D-A8D7-216DC760CE11}"/>
              </a:ext>
            </a:extLst>
          </p:cNvPr>
          <p:cNvSpPr/>
          <p:nvPr/>
        </p:nvSpPr>
        <p:spPr>
          <a:xfrm>
            <a:off x="6214884" y="1014541"/>
            <a:ext cx="5483709" cy="5458335"/>
          </a:xfrm>
          <a:prstGeom prst="roundRect">
            <a:avLst>
              <a:gd name="adj" fmla="val 4923"/>
            </a:avLst>
          </a:prstGeom>
          <a:blipFill>
            <a:blip r:embed="rId2"/>
            <a:stretch>
              <a:fillRect l="-23198" r="-231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60F9C7-8EDD-5273-C07C-418C3F7C94D2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desarrolladas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1D01B7-AE03-6335-E053-228D1C1DA3FB}"/>
              </a:ext>
            </a:extLst>
          </p:cNvPr>
          <p:cNvSpPr txBox="1"/>
          <p:nvPr/>
        </p:nvSpPr>
        <p:spPr>
          <a:xfrm>
            <a:off x="612445" y="2071816"/>
            <a:ext cx="53646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Login, Registro y Recuperar contraseña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Menú principal con saludo y botones grandes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Escribir, Hablar y Buscar dispositivo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Mi perfil y Ayuda (tutorial de uso)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Widget en la pantalla de inicio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7C3463-8826-63CF-03B4-4D907D24A254}"/>
              </a:ext>
            </a:extLst>
          </p:cNvPr>
          <p:cNvSpPr txBox="1"/>
          <p:nvPr/>
        </p:nvSpPr>
        <p:spPr>
          <a:xfrm>
            <a:off x="876300" y="1462300"/>
            <a:ext cx="306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Pantallas de la app</a:t>
            </a:r>
          </a:p>
        </p:txBody>
      </p:sp>
    </p:spTree>
    <p:extLst>
      <p:ext uri="{BB962C8B-B14F-4D97-AF65-F5344CB8AC3E}">
        <p14:creationId xmlns:p14="http://schemas.microsoft.com/office/powerpoint/2010/main" val="110706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DC6718-D160-F56D-A8D7-216DC760CE11}"/>
              </a:ext>
            </a:extLst>
          </p:cNvPr>
          <p:cNvSpPr/>
          <p:nvPr/>
        </p:nvSpPr>
        <p:spPr>
          <a:xfrm>
            <a:off x="6214884" y="1014541"/>
            <a:ext cx="5483709" cy="5458335"/>
          </a:xfrm>
          <a:prstGeom prst="roundRect">
            <a:avLst>
              <a:gd name="adj" fmla="val 4923"/>
            </a:avLst>
          </a:prstGeom>
          <a:blipFill>
            <a:blip r:embed="rId2"/>
            <a:stretch>
              <a:fillRect l="-23198" r="-231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60F9C7-8EDD-5273-C07C-418C3F7C94D2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31D01B7-AE03-6335-E053-228D1C1DA3FB}"/>
              </a:ext>
            </a:extLst>
          </p:cNvPr>
          <p:cNvSpPr txBox="1"/>
          <p:nvPr/>
        </p:nvSpPr>
        <p:spPr>
          <a:xfrm>
            <a:off x="612445" y="2071816"/>
            <a:ext cx="53646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La app corriendo desde Android Studio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Registro, login, Escribir, Hablar y Buscar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Los datos guardados en Firebase</a:t>
            </a:r>
          </a:p>
          <a:p>
            <a:pPr marL="285750" indent="-285750" defTabSz="360000">
              <a:spcAft>
                <a:spcPts val="1400"/>
              </a:spcAft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82F39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El APK firmado publicado en GitHub Releases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7C3463-8826-63CF-03B4-4D907D24A254}"/>
              </a:ext>
            </a:extLst>
          </p:cNvPr>
          <p:cNvSpPr txBox="1"/>
          <p:nvPr/>
        </p:nvSpPr>
        <p:spPr>
          <a:xfrm>
            <a:off x="876300" y="1462300"/>
            <a:ext cx="3066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Qué vamos a mostrar</a:t>
            </a:r>
          </a:p>
        </p:txBody>
      </p:sp>
    </p:spTree>
    <p:extLst>
      <p:ext uri="{BB962C8B-B14F-4D97-AF65-F5344CB8AC3E}">
        <p14:creationId xmlns:p14="http://schemas.microsoft.com/office/powerpoint/2010/main" val="110706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írculo&#10;&#10;Descripción generada automáticamente">
            <a:extLst>
              <a:ext uri="{FF2B5EF4-FFF2-40B4-BE49-F238E27FC236}">
                <a16:creationId xmlns:a16="http://schemas.microsoft.com/office/drawing/2014/main" id="{E7A5FA2F-CE8C-BC12-8BEB-9192382D6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322" y="2519491"/>
            <a:ext cx="2520000" cy="25200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DC6718-D160-F56D-A8D7-216DC760CE11}"/>
              </a:ext>
            </a:extLst>
          </p:cNvPr>
          <p:cNvSpPr/>
          <p:nvPr/>
        </p:nvSpPr>
        <p:spPr>
          <a:xfrm>
            <a:off x="6214884" y="1014541"/>
            <a:ext cx="5483709" cy="5458335"/>
          </a:xfrm>
          <a:prstGeom prst="roundRect">
            <a:avLst>
              <a:gd name="adj" fmla="val 4923"/>
            </a:avLst>
          </a:prstGeom>
          <a:blipFill>
            <a:blip r:embed="rId3"/>
            <a:stretch>
              <a:fillRect l="-23198" r="-231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960F9C7-8EDD-5273-C07C-418C3F7C94D2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Git, APK firmado y release</a:t>
            </a:r>
          </a:p>
        </p:txBody>
      </p:sp>
      <p:pic>
        <p:nvPicPr>
          <p:cNvPr id="8" name="Imagen 7" descr="Forma, Círculo&#10;&#10;Descripción generada automáticamente">
            <a:extLst>
              <a:ext uri="{FF2B5EF4-FFF2-40B4-BE49-F238E27FC236}">
                <a16:creationId xmlns:a16="http://schemas.microsoft.com/office/drawing/2014/main" id="{582CCC6C-57CA-895E-C591-BAE02F59BF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07" y="1023653"/>
            <a:ext cx="2526253" cy="2520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B9286E2-C101-608A-CC1D-184C18D77268}"/>
              </a:ext>
            </a:extLst>
          </p:cNvPr>
          <p:cNvSpPr txBox="1"/>
          <p:nvPr/>
        </p:nvSpPr>
        <p:spPr>
          <a:xfrm>
            <a:off x="926727" y="2118450"/>
            <a:ext cx="1678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</a:p>
        </p:txBody>
      </p:sp>
      <p:pic>
        <p:nvPicPr>
          <p:cNvPr id="12" name="Imagen 11" descr="Forma, Círculo&#10;&#10;Descripción generada automáticamente">
            <a:extLst>
              <a:ext uri="{FF2B5EF4-FFF2-40B4-BE49-F238E27FC236}">
                <a16:creationId xmlns:a16="http://schemas.microsoft.com/office/drawing/2014/main" id="{37B5773C-6F35-DEE2-7C29-8B96DC7CA9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35" y="3981451"/>
            <a:ext cx="2520000" cy="252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E3496E-822E-CF24-6484-BD62DD4F5469}"/>
              </a:ext>
            </a:extLst>
          </p:cNvPr>
          <p:cNvSpPr txBox="1"/>
          <p:nvPr/>
        </p:nvSpPr>
        <p:spPr>
          <a:xfrm>
            <a:off x="948902" y="5041396"/>
            <a:ext cx="1678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A18964-2A9D-019F-4685-8101F227AF1D}"/>
              </a:ext>
            </a:extLst>
          </p:cNvPr>
          <p:cNvSpPr txBox="1"/>
          <p:nvPr/>
        </p:nvSpPr>
        <p:spPr>
          <a:xfrm>
            <a:off x="3513989" y="3543653"/>
            <a:ext cx="1678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APK firmado</a:t>
            </a:r>
          </a:p>
        </p:txBody>
      </p:sp>
    </p:spTree>
    <p:extLst>
      <p:ext uri="{BB962C8B-B14F-4D97-AF65-F5344CB8AC3E}">
        <p14:creationId xmlns:p14="http://schemas.microsoft.com/office/powerpoint/2010/main" val="87301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3805881-028A-34A3-B5D1-5E786C313BE8}"/>
              </a:ext>
            </a:extLst>
          </p:cNvPr>
          <p:cNvSpPr/>
          <p:nvPr/>
        </p:nvSpPr>
        <p:spPr>
          <a:xfrm>
            <a:off x="527900" y="1023461"/>
            <a:ext cx="4025246" cy="2601986"/>
          </a:xfrm>
          <a:prstGeom prst="roundRect">
            <a:avLst>
              <a:gd name="adj" fmla="val 10594"/>
            </a:avLst>
          </a:prstGeom>
          <a:blipFill>
            <a:blip r:embed="rId2"/>
            <a:stretch>
              <a:fillRect l="-6791" r="-679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5138B5D-402B-59E1-AC27-991B9932DDE2}"/>
              </a:ext>
            </a:extLst>
          </p:cNvPr>
          <p:cNvSpPr/>
          <p:nvPr/>
        </p:nvSpPr>
        <p:spPr>
          <a:xfrm>
            <a:off x="527900" y="3925919"/>
            <a:ext cx="4025246" cy="2601986"/>
          </a:xfrm>
          <a:prstGeom prst="roundRect">
            <a:avLst>
              <a:gd name="adj" fmla="val 10594"/>
            </a:avLst>
          </a:prstGeom>
          <a:blipFill>
            <a:blip r:embed="rId3"/>
            <a:stretch>
              <a:fillRect l="-5450" r="-545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BCFE56C-88C1-19B4-B15C-248E9C6D0CA7}"/>
              </a:ext>
            </a:extLst>
          </p:cNvPr>
          <p:cNvSpPr/>
          <p:nvPr/>
        </p:nvSpPr>
        <p:spPr>
          <a:xfrm>
            <a:off x="4749454" y="1023461"/>
            <a:ext cx="3981449" cy="324803"/>
          </a:xfrm>
          <a:prstGeom prst="roundRect">
            <a:avLst>
              <a:gd name="adj" fmla="val 50000"/>
            </a:avLst>
          </a:prstGeom>
          <a:solidFill>
            <a:srgbClr val="FCB4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Capas y tecnologías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E678F0F-A35B-4293-35D3-D7A609CB4AE6}"/>
              </a:ext>
            </a:extLst>
          </p:cNvPr>
          <p:cNvGrpSpPr/>
          <p:nvPr/>
        </p:nvGrpSpPr>
        <p:grpSpPr>
          <a:xfrm>
            <a:off x="4749454" y="1551213"/>
            <a:ext cx="6945485" cy="711055"/>
            <a:chOff x="4749454" y="1551213"/>
            <a:chExt cx="6945485" cy="71105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3ACA933-8890-9E04-83B4-8DC1CB8DF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C42AA69-F4FD-7325-0496-94B644BE83E8}"/>
                </a:ext>
              </a:extLst>
            </p:cNvPr>
            <p:cNvSpPr txBox="1"/>
            <p:nvPr/>
          </p:nvSpPr>
          <p:spPr>
            <a:xfrm>
              <a:off x="5500634" y="1722074"/>
              <a:ext cx="4094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Pantallas con Compose y Navigation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0AECB5AC-D1D4-A68D-04D0-E7FC1B0D7CC2}"/>
              </a:ext>
            </a:extLst>
          </p:cNvPr>
          <p:cNvGrpSpPr/>
          <p:nvPr/>
        </p:nvGrpSpPr>
        <p:grpSpPr>
          <a:xfrm>
            <a:off x="4749454" y="2404340"/>
            <a:ext cx="6945485" cy="711055"/>
            <a:chOff x="4749454" y="1551213"/>
            <a:chExt cx="6945485" cy="711055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E3F378A-FDF7-958C-6DB8-C67AAE362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55F8928-55EA-3485-60EC-0A0AF6ACC44A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Repositorio y validaciones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FEF4117-2555-8D59-395D-4B36C8CFE402}"/>
              </a:ext>
            </a:extLst>
          </p:cNvPr>
          <p:cNvGrpSpPr/>
          <p:nvPr/>
        </p:nvGrpSpPr>
        <p:grpSpPr>
          <a:xfrm>
            <a:off x="4749454" y="3257467"/>
            <a:ext cx="6945485" cy="711055"/>
            <a:chOff x="4749454" y="1551213"/>
            <a:chExt cx="6945485" cy="711055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1F5BA378-838E-BE87-EC56-F15826AC5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005619D-A0AB-48DE-FDA8-A9193A5ED19B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Servicios de Auth, Usuarios y más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49AB559-EB80-F65A-B6CC-84A14128983E}"/>
              </a:ext>
            </a:extLst>
          </p:cNvPr>
          <p:cNvGrpSpPr/>
          <p:nvPr/>
        </p:nvGrpSpPr>
        <p:grpSpPr>
          <a:xfrm>
            <a:off x="4749454" y="4110594"/>
            <a:ext cx="6945485" cy="711055"/>
            <a:chOff x="4749454" y="1551213"/>
            <a:chExt cx="6945485" cy="711055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D95499B2-9EAC-EB6C-1965-98ACBF926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1E92153-1EBD-33E7-0A5E-9057B24C4087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Firebase Auth y Cloud Firestore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8DFF8951-3099-C551-A2B8-11805B2127EF}"/>
              </a:ext>
            </a:extLst>
          </p:cNvPr>
          <p:cNvGrpSpPr/>
          <p:nvPr/>
        </p:nvGrpSpPr>
        <p:grpSpPr>
          <a:xfrm>
            <a:off x="4749454" y="4963721"/>
            <a:ext cx="6945485" cy="711055"/>
            <a:chOff x="4749454" y="1551213"/>
            <a:chExt cx="6945485" cy="711055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B498BA24-8C32-9FCD-B440-75F6B32F4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C7B42E80-36C0-402F-F4D5-38089C294633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Voz (TTS y reconocimiento) y GPS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2429F90-369C-495C-7E10-B526A3582735}"/>
              </a:ext>
            </a:extLst>
          </p:cNvPr>
          <p:cNvGrpSpPr/>
          <p:nvPr/>
        </p:nvGrpSpPr>
        <p:grpSpPr>
          <a:xfrm>
            <a:off x="4749454" y="5816850"/>
            <a:ext cx="6945485" cy="711055"/>
            <a:chOff x="4749454" y="1551213"/>
            <a:chExt cx="6945485" cy="711055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6DF875C5-FAB1-9343-5FCD-4736E63F4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9454" y="1551213"/>
              <a:ext cx="6945485" cy="711055"/>
            </a:xfrm>
            <a:prstGeom prst="rect">
              <a:avLst/>
            </a:prstGeom>
          </p:spPr>
        </p:pic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0885DA4-2225-230B-F5E2-8D3175D68F52}"/>
                </a:ext>
              </a:extLst>
            </p:cNvPr>
            <p:cNvSpPr txBox="1"/>
            <p:nvPr/>
          </p:nvSpPr>
          <p:spPr>
            <a:xfrm>
              <a:off x="5500634" y="1722074"/>
              <a:ext cx="4037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/>
                <a:t>JUnit, Mockito, Robolectric, Espresso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1E8B0C4-BC6D-26DE-1273-5247D8FFCF6B}"/>
              </a:ext>
            </a:extLst>
          </p:cNvPr>
          <p:cNvSpPr txBox="1"/>
          <p:nvPr/>
        </p:nvSpPr>
        <p:spPr>
          <a:xfrm>
            <a:off x="2014539" y="293550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y librerías</a:t>
            </a:r>
          </a:p>
        </p:txBody>
      </p:sp>
    </p:spTree>
    <p:extLst>
      <p:ext uri="{BB962C8B-B14F-4D97-AF65-F5344CB8AC3E}">
        <p14:creationId xmlns:p14="http://schemas.microsoft.com/office/powerpoint/2010/main" val="23792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BFDEA41A5D8B46AA5DA2E2389CBE4E" ma:contentTypeVersion="19" ma:contentTypeDescription="Crear nuevo documento." ma:contentTypeScope="" ma:versionID="8582924e0409c10a8a1fc1eca5dfbb2e">
  <xsd:schema xmlns:xsd="http://www.w3.org/2001/XMLSchema" xmlns:xs="http://www.w3.org/2001/XMLSchema" xmlns:p="http://schemas.microsoft.com/office/2006/metadata/properties" xmlns:ns2="d0daa353-f819-43d1-badf-ce69fea8800d" xmlns:ns3="edc1eb1c-f9b5-429a-a0ce-702847a0aa2d" targetNamespace="http://schemas.microsoft.com/office/2006/metadata/properties" ma:root="true" ma:fieldsID="e4d7d6d0f63e48ebe5e4a9f31787ab41" ns2:_="" ns3:_="">
    <xsd:import namespace="d0daa353-f819-43d1-badf-ce69fea8800d"/>
    <xsd:import namespace="edc1eb1c-f9b5-429a-a0ce-702847a0aa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Fechayhora" minOccurs="0"/>
                <xsd:element ref="ns2:Fecha_x0020_de_x0020_creaci_x00f3_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aa353-f819-43d1-badf-ce69fea880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Fechayhora" ma:index="20" nillable="true" ma:displayName="Fecha y hora" ma:format="DateTime" ma:internalName="Fechayhora">
      <xsd:simpleType>
        <xsd:restriction base="dms:DateTime"/>
      </xsd:simpleType>
    </xsd:element>
    <xsd:element name="Fecha_x0020_de_x0020_creaci_x00f3_n" ma:index="21" nillable="true" ma:displayName="Fecha de creación" ma:format="DateTime" ma:internalName="Fecha_x0020_de_x0020_creaci_x00f3_n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eb1c-f9b5-429a-a0ce-702847a0aa2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beb23f2-04a0-4483-9f40-448d491ccbe9}" ma:internalName="TaxCatchAll" ma:showField="CatchAllData" ma:web="edc1eb1c-f9b5-429a-a0ce-702847a0aa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daa353-f819-43d1-badf-ce69fea8800d">
      <Terms xmlns="http://schemas.microsoft.com/office/infopath/2007/PartnerControls"/>
    </lcf76f155ced4ddcb4097134ff3c332f>
    <Fecha_x0020_de_x0020_creaci_x00f3_n xmlns="d0daa353-f819-43d1-badf-ce69fea8800d" xsi:nil="true"/>
    <TaxCatchAll xmlns="edc1eb1c-f9b5-429a-a0ce-702847a0aa2d" xsi:nil="true"/>
    <Fechayhora xmlns="d0daa353-f819-43d1-badf-ce69fea8800d" xsi:nil="true"/>
  </documentManagement>
</p:properties>
</file>

<file path=customXml/itemProps1.xml><?xml version="1.0" encoding="utf-8"?>
<ds:datastoreItem xmlns:ds="http://schemas.openxmlformats.org/officeDocument/2006/customXml" ds:itemID="{D039C1AD-F522-40CC-8274-8A425BE0F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C02A10-B651-4A19-82DC-BD0E6F0F33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daa353-f819-43d1-badf-ce69fea8800d"/>
    <ds:schemaRef ds:uri="edc1eb1c-f9b5-429a-a0ce-702847a0aa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FA87EA-B44E-4EFC-9EBC-388E2126912C}">
  <ds:schemaRefs>
    <ds:schemaRef ds:uri="http://purl.org/dc/dcmitype/"/>
    <ds:schemaRef ds:uri="d0daa353-f819-43d1-badf-ce69fea8800d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dc1eb1c-f9b5-429a-a0ce-702847a0aa2d"/>
    <ds:schemaRef ds:uri="http://purl.org/dc/elements/1.1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647</Words>
  <Application>Microsoft Office PowerPoint</Application>
  <PresentationFormat>Panorámica</PresentationFormat>
  <Paragraphs>49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Rodrigo Muñoz M.</dc:creator>
  <cp:lastModifiedBy>Shayhaska Castro C.</cp:lastModifiedBy>
  <cp:revision>33</cp:revision>
  <dcterms:created xsi:type="dcterms:W3CDTF">2024-02-19T13:00:38Z</dcterms:created>
  <dcterms:modified xsi:type="dcterms:W3CDTF">2024-04-16T13:24:24Z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0x01010070BFDEA41A5D8B46AA5DA2E2389CBE4E</vt:lpwstr>
  </property>
  <property fmtid="{D5CDD505-2E9C-101B-9397-08002B2CF9AE}" pid="3" name="MediaServiceImageTags">
    <vt:lpwstr/>
  </property>
</Properties>
</file>